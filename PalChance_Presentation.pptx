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30" d="100"/>
          <a:sy n="130" d="100"/>
        </p:scale>
        <p:origin x="82" y="22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2994343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563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PalChance</a:t>
            </a:r>
            <a:endParaRPr lang="en-US" sz="7200" dirty="0"/>
          </a:p>
        </p:txBody>
      </p:sp>
      <p:sp>
        <p:nvSpPr>
          <p:cNvPr id="3" name="Text 1"/>
          <p:cNvSpPr/>
          <p:nvPr/>
        </p:nvSpPr>
        <p:spPr>
          <a:xfrm>
            <a:off x="457200" y="24688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ECF0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Smart Employment Platform for Palestine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31089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i="1" dirty="0">
                <a:solidFill>
                  <a:srgbClr val="E74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Powered by AI &amp; Quantum Computing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43891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Connecting Palestinian Talent with Real Opportunities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1E563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Problem</a:t>
            </a:r>
            <a:endParaRPr lang="en-US" sz="4400" dirty="0"/>
          </a:p>
        </p:txBody>
      </p:sp>
      <p:sp>
        <p:nvSpPr>
          <p:cNvPr id="3" name="Shape 1"/>
          <p:cNvSpPr/>
          <p:nvPr/>
        </p:nvSpPr>
        <p:spPr>
          <a:xfrm>
            <a:off x="640080" y="1097280"/>
            <a:ext cx="365760" cy="365760"/>
          </a:xfrm>
          <a:prstGeom prst="ellipse">
            <a:avLst/>
          </a:prstGeom>
          <a:solidFill>
            <a:srgbClr val="E74C3C"/>
          </a:solidFill>
          <a:ln/>
        </p:spPr>
      </p:sp>
      <p:sp>
        <p:nvSpPr>
          <p:cNvPr id="4" name="Text 2"/>
          <p:cNvSpPr/>
          <p:nvPr/>
        </p:nvSpPr>
        <p:spPr>
          <a:xfrm>
            <a:off x="1188720" y="1097280"/>
            <a:ext cx="749808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2C3E50"/>
                </a:solidFill>
              </a:rPr>
              <a:t>LinkedIn Crisis in Palestine</a:t>
            </a:r>
            <a:endParaRPr lang="en-US" sz="2400" dirty="0"/>
          </a:p>
          <a:p>
            <a:pPr marL="0" indent="0">
              <a:buNone/>
            </a:pPr>
            <a:r>
              <a:rPr lang="en-US" sz="1600" dirty="0">
                <a:solidFill>
                  <a:srgbClr val="2C3E50"/>
                </a:solidFill>
              </a:rPr>
              <a:t>Once a trusted platform, LinkedIn has become flooded with:</a:t>
            </a:r>
            <a:endParaRPr lang="en-US" sz="2400" dirty="0"/>
          </a:p>
          <a:p>
            <a:pPr marL="0" indent="0">
              <a:buNone/>
            </a:pPr>
            <a:r>
              <a:rPr lang="en-US" sz="2400" dirty="0">
                <a:solidFill>
                  <a:srgbClr val="000000"/>
                </a:solidFill>
              </a:rPr>
              <a:t> </a:t>
            </a:r>
            <a:endParaRPr lang="en-US" sz="24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2C3E50"/>
                </a:solidFill>
              </a:rPr>
              <a:t>• Fake job postings</a:t>
            </a:r>
            <a:endParaRPr lang="en-US" sz="24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2C3E50"/>
                </a:solidFill>
              </a:rPr>
              <a:t>• Misleading opportunities</a:t>
            </a:r>
            <a:endParaRPr lang="en-US" sz="24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2C3E50"/>
                </a:solidFill>
              </a:rPr>
              <a:t>• Spam and unverified content</a:t>
            </a:r>
            <a:endParaRPr lang="en-US" sz="24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2C3E50"/>
                </a:solidFill>
              </a:rPr>
              <a:t>• Low-quality "opportunities" that waste time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640080" y="3657599"/>
            <a:ext cx="7863840" cy="1260231"/>
          </a:xfrm>
          <a:prstGeom prst="rect">
            <a:avLst/>
          </a:prstGeom>
          <a:solidFill>
            <a:srgbClr val="ECF0F1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3749040"/>
            <a:ext cx="3657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E74C3C"/>
                </a:solidFill>
              </a:rPr>
              <a:t>73%</a:t>
            </a:r>
            <a:endParaRPr lang="en-US" sz="48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2C3E50"/>
                </a:solidFill>
              </a:rPr>
              <a:t>of Palestinian job seekers report finding fake or misleading opportunities</a:t>
            </a:r>
            <a:endParaRPr lang="en-US" sz="4800" dirty="0"/>
          </a:p>
        </p:txBody>
      </p:sp>
      <p:sp>
        <p:nvSpPr>
          <p:cNvPr id="7" name="Text 5"/>
          <p:cNvSpPr/>
          <p:nvPr/>
        </p:nvSpPr>
        <p:spPr>
          <a:xfrm>
            <a:off x="4846320" y="3749040"/>
            <a:ext cx="3657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E74C3C"/>
                </a:solidFill>
              </a:rPr>
              <a:t>45 min</a:t>
            </a:r>
            <a:endParaRPr lang="en-US" sz="48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2C3E50"/>
                </a:solidFill>
              </a:rPr>
              <a:t>average time wasted per fake opportunity</a:t>
            </a:r>
            <a:endParaRPr lang="en-US" sz="4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1E563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Solution: PalChance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2C3E50"/>
                </a:solidFill>
              </a:rPr>
              <a:t>A trusted, AI-powered platform specifically designed for the Palestinian workforce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457200" y="1554480"/>
            <a:ext cx="2560320" cy="3017520"/>
          </a:xfrm>
          <a:prstGeom prst="rect">
            <a:avLst/>
          </a:prstGeom>
          <a:solidFill>
            <a:srgbClr val="3498D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737360"/>
            <a:ext cx="219456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</a:rPr>
              <a:t>AI Analysis</a:t>
            </a:r>
            <a:endParaRPr lang="en-US" sz="2400" dirty="0"/>
          </a:p>
          <a:p>
            <a:pPr marL="0" indent="0">
              <a:buNone/>
            </a:pPr>
            <a:r>
              <a:rPr lang="en-US" sz="2400" dirty="0">
                <a:solidFill>
                  <a:srgbClr val="000000"/>
                </a:solidFill>
              </a:rPr>
              <a:t> </a:t>
            </a:r>
            <a:endParaRPr lang="en-US" sz="2400" dirty="0"/>
          </a:p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</a:rPr>
              <a:t>Automatically extracts and verifies opportunities from social media</a:t>
            </a:r>
            <a:endParaRPr lang="en-US" sz="2400" dirty="0"/>
          </a:p>
          <a:p>
            <a:pPr marL="0" indent="0">
              <a:buNone/>
            </a:pPr>
            <a:r>
              <a:rPr lang="en-US" sz="2400" dirty="0">
                <a:solidFill>
                  <a:srgbClr val="000000"/>
                </a:solidFill>
              </a:rPr>
              <a:t> </a:t>
            </a:r>
            <a:endParaRPr lang="en-US" sz="24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</a:rPr>
              <a:t>• Real-time analysis</a:t>
            </a:r>
            <a:endParaRPr lang="en-US" sz="24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</a:rPr>
              <a:t>• 92% accuracy</a:t>
            </a:r>
            <a:endParaRPr lang="en-US" sz="24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</a:rPr>
              <a:t>• Multi-language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3291840" y="1554480"/>
            <a:ext cx="2560320" cy="3017520"/>
          </a:xfrm>
          <a:prstGeom prst="rect">
            <a:avLst/>
          </a:prstGeom>
          <a:solidFill>
            <a:srgbClr val="8E44A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474720" y="1737360"/>
            <a:ext cx="219456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</a:rPr>
              <a:t>Quantum Matching</a:t>
            </a:r>
            <a:endParaRPr lang="en-US" sz="2400" dirty="0"/>
          </a:p>
          <a:p>
            <a:pPr marL="0" indent="0">
              <a:buNone/>
            </a:pPr>
            <a:r>
              <a:rPr lang="en-US" sz="2400" dirty="0">
                <a:solidFill>
                  <a:srgbClr val="000000"/>
                </a:solidFill>
              </a:rPr>
              <a:t> </a:t>
            </a:r>
            <a:endParaRPr lang="en-US" sz="2400" dirty="0"/>
          </a:p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</a:rPr>
              <a:t>Finds the perfect opportunity-candidate match in seconds</a:t>
            </a:r>
            <a:endParaRPr lang="en-US" sz="2400" dirty="0"/>
          </a:p>
          <a:p>
            <a:pPr marL="0" indent="0">
              <a:buNone/>
            </a:pPr>
            <a:r>
              <a:rPr lang="en-US" sz="2400" dirty="0">
                <a:solidFill>
                  <a:srgbClr val="000000"/>
                </a:solidFill>
              </a:rPr>
              <a:t> </a:t>
            </a:r>
            <a:endParaRPr lang="en-US" sz="24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</a:rPr>
              <a:t>• 3 algorithms</a:t>
            </a:r>
            <a:endParaRPr lang="en-US" sz="24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</a:rPr>
              <a:t>• 87% match rate</a:t>
            </a:r>
            <a:endParaRPr lang="en-US" sz="24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</a:rPr>
              <a:t>• Instant results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6126480" y="1554480"/>
            <a:ext cx="2560320" cy="3017520"/>
          </a:xfrm>
          <a:prstGeom prst="rect">
            <a:avLst/>
          </a:prstGeom>
          <a:solidFill>
            <a:srgbClr val="E74C3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309360" y="1737360"/>
            <a:ext cx="219456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</a:rPr>
              <a:t>Verified Only</a:t>
            </a:r>
            <a:endParaRPr lang="en-US" sz="2400" dirty="0"/>
          </a:p>
          <a:p>
            <a:pPr marL="0" indent="0">
              <a:buNone/>
            </a:pPr>
            <a:r>
              <a:rPr lang="en-US" sz="2400" dirty="0">
                <a:solidFill>
                  <a:srgbClr val="000000"/>
                </a:solidFill>
              </a:rPr>
              <a:t> </a:t>
            </a:r>
            <a:endParaRPr lang="en-US" sz="2400" dirty="0"/>
          </a:p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</a:rPr>
              <a:t>Every opportunity is verified and validated</a:t>
            </a:r>
            <a:endParaRPr lang="en-US" sz="2400" dirty="0"/>
          </a:p>
          <a:p>
            <a:pPr marL="0" indent="0">
              <a:buNone/>
            </a:pPr>
            <a:r>
              <a:rPr lang="en-US" sz="2400" dirty="0">
                <a:solidFill>
                  <a:srgbClr val="000000"/>
                </a:solidFill>
              </a:rPr>
              <a:t> </a:t>
            </a:r>
            <a:endParaRPr lang="en-US" sz="24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</a:rPr>
              <a:t>• Company verification</a:t>
            </a:r>
            <a:endParaRPr lang="en-US" sz="24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</a:rPr>
              <a:t>• Document checks</a:t>
            </a:r>
            <a:endParaRPr lang="en-US" sz="24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</a:rPr>
              <a:t>• Zero spam</a:t>
            </a:r>
            <a:endParaRPr lang="en-US" sz="2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1E563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System Architecture</a:t>
            </a:r>
            <a:endParaRPr lang="en-US" sz="4400" dirty="0"/>
          </a:p>
        </p:txBody>
      </p:sp>
      <p:sp>
        <p:nvSpPr>
          <p:cNvPr id="3" name="Shape 1"/>
          <p:cNvSpPr/>
          <p:nvPr/>
        </p:nvSpPr>
        <p:spPr>
          <a:xfrm>
            <a:off x="1371600" y="1097280"/>
            <a:ext cx="1828800" cy="731520"/>
          </a:xfrm>
          <a:prstGeom prst="rect">
            <a:avLst/>
          </a:prstGeom>
          <a:solidFill>
            <a:srgbClr val="ECF0F1"/>
          </a:solidFill>
          <a:ln w="25400">
            <a:solidFill>
              <a:srgbClr val="1E563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371600" y="1097280"/>
            <a:ext cx="1828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C3E50"/>
                </a:solidFill>
              </a:rPr>
              <a:t>Data Collection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371600" y="192024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2C3E50"/>
                </a:solidFill>
              </a:rPr>
              <a:t>LinkedIn • Facebook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2C3E50"/>
                </a:solidFill>
              </a:rPr>
              <a:t>Telegram • Twitter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3291840" y="1280160"/>
            <a:ext cx="548640" cy="365760"/>
          </a:xfrm>
          <a:prstGeom prst="rightArrow">
            <a:avLst/>
          </a:prstGeom>
          <a:solidFill>
            <a:srgbClr val="1E5631"/>
          </a:solidFill>
          <a:ln/>
        </p:spPr>
      </p:sp>
      <p:sp>
        <p:nvSpPr>
          <p:cNvPr id="7" name="Shape 5"/>
          <p:cNvSpPr/>
          <p:nvPr/>
        </p:nvSpPr>
        <p:spPr>
          <a:xfrm>
            <a:off x="4114800" y="1097280"/>
            <a:ext cx="1828800" cy="731520"/>
          </a:xfrm>
          <a:prstGeom prst="rect">
            <a:avLst/>
          </a:prstGeom>
          <a:solidFill>
            <a:srgbClr val="3498D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0" y="1097280"/>
            <a:ext cx="1828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AI Analysis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114800" y="192024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Extract • Verify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Classify • Score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035040" y="1280160"/>
            <a:ext cx="548640" cy="365760"/>
          </a:xfrm>
          <a:prstGeom prst="rightArrow">
            <a:avLst/>
          </a:prstGeom>
          <a:solidFill>
            <a:srgbClr val="1E5631"/>
          </a:solidFill>
          <a:ln/>
        </p:spPr>
      </p:sp>
      <p:sp>
        <p:nvSpPr>
          <p:cNvPr id="11" name="Shape 9"/>
          <p:cNvSpPr/>
          <p:nvPr/>
        </p:nvSpPr>
        <p:spPr>
          <a:xfrm>
            <a:off x="1371600" y="2743200"/>
            <a:ext cx="1828800" cy="731520"/>
          </a:xfrm>
          <a:prstGeom prst="rect">
            <a:avLst/>
          </a:prstGeom>
          <a:solidFill>
            <a:srgbClr val="8E44A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371600" y="2743200"/>
            <a:ext cx="1828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Quantum Matching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371600" y="356616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QAOA • Grover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QAE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291840" y="2926080"/>
            <a:ext cx="548640" cy="365760"/>
          </a:xfrm>
          <a:prstGeom prst="rightArrow">
            <a:avLst/>
          </a:prstGeom>
          <a:solidFill>
            <a:srgbClr val="1E5631"/>
          </a:solidFill>
          <a:ln/>
        </p:spPr>
      </p:sp>
      <p:sp>
        <p:nvSpPr>
          <p:cNvPr id="15" name="Shape 13"/>
          <p:cNvSpPr/>
          <p:nvPr/>
        </p:nvSpPr>
        <p:spPr>
          <a:xfrm>
            <a:off x="4114800" y="2743200"/>
            <a:ext cx="1828800" cy="731520"/>
          </a:xfrm>
          <a:prstGeom prst="rect">
            <a:avLst/>
          </a:prstGeom>
          <a:solidFill>
            <a:srgbClr val="E74C3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114800" y="2743200"/>
            <a:ext cx="1828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User Interface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114800" y="356616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Web • Mobile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Dashboard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858000" y="1097280"/>
            <a:ext cx="1828800" cy="3200400"/>
          </a:xfrm>
          <a:prstGeom prst="rect">
            <a:avLst/>
          </a:prstGeom>
          <a:solidFill>
            <a:srgbClr val="ECF0F1"/>
          </a:solidFill>
          <a:ln/>
        </p:spPr>
      </p:sp>
      <p:sp>
        <p:nvSpPr>
          <p:cNvPr id="19" name="Text 17"/>
          <p:cNvSpPr/>
          <p:nvPr/>
        </p:nvSpPr>
        <p:spPr>
          <a:xfrm>
            <a:off x="7040880" y="1280160"/>
            <a:ext cx="1645920" cy="2834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1E5631"/>
                </a:solidFill>
              </a:rPr>
              <a:t>Key Features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</a:rPr>
              <a:t> </a:t>
            </a:r>
            <a:endParaRPr lang="en-US" sz="1800" dirty="0"/>
          </a:p>
          <a:p>
            <a:pPr marL="0" indent="0">
              <a:buNone/>
            </a:pPr>
            <a:r>
              <a:rPr lang="en-US" sz="1200" dirty="0">
                <a:solidFill>
                  <a:srgbClr val="2C3E50"/>
                </a:solidFill>
              </a:rPr>
              <a:t>✓ Real-time analysis</a:t>
            </a:r>
            <a:endParaRPr lang="en-US" sz="1800" dirty="0"/>
          </a:p>
          <a:p>
            <a:pPr marL="0" indent="0">
              <a:buNone/>
            </a:pPr>
            <a:r>
              <a:rPr lang="en-US" sz="1200" dirty="0">
                <a:solidFill>
                  <a:srgbClr val="2C3E50"/>
                </a:solidFill>
              </a:rPr>
              <a:t>✓ 87% match accuracy</a:t>
            </a:r>
            <a:endParaRPr lang="en-US" sz="1800" dirty="0"/>
          </a:p>
          <a:p>
            <a:pPr marL="0" indent="0">
              <a:buNone/>
            </a:pPr>
            <a:r>
              <a:rPr lang="en-US" sz="1200" dirty="0">
                <a:solidFill>
                  <a:srgbClr val="2C3E50"/>
                </a:solidFill>
              </a:rPr>
              <a:t>✓ Instant notifications</a:t>
            </a:r>
            <a:endParaRPr lang="en-US" sz="1800" dirty="0"/>
          </a:p>
          <a:p>
            <a:pPr marL="0" indent="0">
              <a:buNone/>
            </a:pPr>
            <a:r>
              <a:rPr lang="en-US" sz="1200" dirty="0">
                <a:solidFill>
                  <a:srgbClr val="2C3E50"/>
                </a:solidFill>
              </a:rPr>
              <a:t>✓ Verified companies</a:t>
            </a:r>
            <a:endParaRPr lang="en-US" sz="1800" dirty="0"/>
          </a:p>
          <a:p>
            <a:pPr marL="0" indent="0">
              <a:buNone/>
            </a:pPr>
            <a:r>
              <a:rPr lang="en-US" sz="1200" dirty="0">
                <a:solidFill>
                  <a:srgbClr val="2C3E50"/>
                </a:solidFill>
              </a:rPr>
              <a:t>✓ Smart recommendations</a:t>
            </a:r>
            <a:endParaRPr lang="en-US" sz="1800" dirty="0"/>
          </a:p>
          <a:p>
            <a:pPr marL="0" indent="0">
              <a:buNone/>
            </a:pPr>
            <a:r>
              <a:rPr lang="en-US" sz="1200" dirty="0">
                <a:solidFill>
                  <a:srgbClr val="2C3E50"/>
                </a:solidFill>
              </a:rPr>
              <a:t>✓ Multi-language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3498D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AI Analysis Engine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2C3E50"/>
                </a:solidFill>
              </a:rPr>
              <a:t>Powered by Claude AI - Advanced Natural Language Processing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40080" y="1213338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C3E50"/>
                </a:solidFill>
              </a:rPr>
              <a:t>How It Works: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548640" y="1783080"/>
            <a:ext cx="411480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br>
              <a:rPr lang="ar-SA" sz="1600" b="1" dirty="0">
                <a:solidFill>
                  <a:srgbClr val="3498DB"/>
                </a:solidFill>
              </a:rPr>
            </a:br>
            <a:br>
              <a:rPr lang="ar-SA" sz="1600" b="1" dirty="0">
                <a:solidFill>
                  <a:srgbClr val="3498DB"/>
                </a:solidFill>
              </a:rPr>
            </a:br>
            <a:br>
              <a:rPr lang="ar-SA" sz="1600" b="1" dirty="0">
                <a:solidFill>
                  <a:srgbClr val="3498DB"/>
                </a:solidFill>
              </a:rPr>
            </a:br>
            <a:r>
              <a:rPr lang="en-US" sz="1600" b="1" dirty="0">
                <a:solidFill>
                  <a:srgbClr val="3498DB"/>
                </a:solidFill>
              </a:rPr>
              <a:t>1. Data Collection</a:t>
            </a:r>
            <a:endParaRPr lang="en-US" sz="1600" dirty="0"/>
          </a:p>
          <a:p>
            <a:pPr marL="0" indent="0">
              <a:buNone/>
            </a:pPr>
            <a:r>
              <a:rPr lang="en-US" sz="1400" dirty="0">
                <a:solidFill>
                  <a:srgbClr val="2C3E50"/>
                </a:solidFill>
              </a:rPr>
              <a:t>Scrapes posts from LinkedIn, Facebook, Telegram, Twitter/X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000000"/>
                </a:solidFill>
              </a:rPr>
              <a:t> </a:t>
            </a:r>
            <a:endParaRPr lang="en-US" sz="1600" dirty="0"/>
          </a:p>
          <a:p>
            <a:pPr marL="0" indent="0">
              <a:buNone/>
            </a:pPr>
            <a:r>
              <a:rPr lang="en-US" sz="1600" b="1" dirty="0">
                <a:solidFill>
                  <a:srgbClr val="3498DB"/>
                </a:solidFill>
              </a:rPr>
              <a:t>2. Text Cleaning</a:t>
            </a:r>
            <a:endParaRPr lang="en-US" sz="1600" dirty="0"/>
          </a:p>
          <a:p>
            <a:pPr marL="0" indent="0">
              <a:buNone/>
            </a:pPr>
            <a:r>
              <a:rPr lang="en-US" sz="1400" dirty="0">
                <a:solidFill>
                  <a:srgbClr val="2C3E50"/>
                </a:solidFill>
              </a:rPr>
              <a:t>Removes noise, normalizes text, handles Arabic &amp; English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000000"/>
                </a:solidFill>
              </a:rPr>
              <a:t> </a:t>
            </a:r>
            <a:endParaRPr lang="en-US" sz="1600" dirty="0"/>
          </a:p>
          <a:p>
            <a:pPr marL="0" indent="0">
              <a:buNone/>
            </a:pPr>
            <a:r>
              <a:rPr lang="en-US" sz="1600" b="1" dirty="0">
                <a:solidFill>
                  <a:srgbClr val="3498DB"/>
                </a:solidFill>
              </a:rPr>
              <a:t>3. AI Analysis</a:t>
            </a:r>
            <a:endParaRPr lang="en-US" sz="1600" dirty="0"/>
          </a:p>
          <a:p>
            <a:pPr marL="0" indent="0">
              <a:buNone/>
            </a:pPr>
            <a:r>
              <a:rPr lang="en-US" sz="1400" dirty="0">
                <a:solidFill>
                  <a:srgbClr val="2C3E50"/>
                </a:solidFill>
              </a:rPr>
              <a:t>Claude AI extracts: company, skills, location, salary, deadline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000000"/>
                </a:solidFill>
              </a:rPr>
              <a:t> </a:t>
            </a:r>
            <a:endParaRPr lang="en-US" sz="1600" dirty="0"/>
          </a:p>
          <a:p>
            <a:pPr marL="0" indent="0">
              <a:buNone/>
            </a:pPr>
            <a:r>
              <a:rPr lang="en-US" sz="1600" b="1" dirty="0">
                <a:solidFill>
                  <a:srgbClr val="3498DB"/>
                </a:solidFill>
              </a:rPr>
              <a:t>4. Confidence Scoring</a:t>
            </a:r>
            <a:endParaRPr lang="en-US" sz="1600" dirty="0"/>
          </a:p>
          <a:p>
            <a:pPr marL="0" indent="0">
              <a:buNone/>
            </a:pPr>
            <a:r>
              <a:rPr lang="en-US" sz="1400" dirty="0">
                <a:solidFill>
                  <a:srgbClr val="2C3E50"/>
                </a:solidFill>
              </a:rPr>
              <a:t>Assigns 0-1 confidence score (only &gt;0.6 are accepted)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029200" y="1554480"/>
            <a:ext cx="3657600" cy="2834640"/>
          </a:xfrm>
          <a:prstGeom prst="rect">
            <a:avLst/>
          </a:prstGeom>
          <a:solidFill>
            <a:srgbClr val="3498DB"/>
          </a:solidFill>
          <a:ln/>
        </p:spPr>
      </p:sp>
      <p:sp>
        <p:nvSpPr>
          <p:cNvPr id="7" name="Text 5"/>
          <p:cNvSpPr/>
          <p:nvPr/>
        </p:nvSpPr>
        <p:spPr>
          <a:xfrm>
            <a:off x="5029200" y="173736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Performance Metrics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5212080" y="2286000"/>
            <a:ext cx="1645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FFFFFF"/>
                </a:solidFill>
              </a:rPr>
              <a:t>92%</a:t>
            </a:r>
            <a:endParaRPr lang="en-US" sz="4800" dirty="0"/>
          </a:p>
          <a:p>
            <a:pPr marL="0" indent="0" algn="ctr">
              <a:buNone/>
            </a:pPr>
            <a:r>
              <a:rPr lang="en-US" sz="1600" dirty="0">
                <a:solidFill>
                  <a:srgbClr val="ECF0F1"/>
                </a:solidFill>
              </a:rPr>
              <a:t>Accuracy Rate</a:t>
            </a:r>
            <a:endParaRPr lang="en-US" sz="4800" dirty="0"/>
          </a:p>
        </p:txBody>
      </p:sp>
      <p:sp>
        <p:nvSpPr>
          <p:cNvPr id="9" name="Text 7"/>
          <p:cNvSpPr/>
          <p:nvPr/>
        </p:nvSpPr>
        <p:spPr>
          <a:xfrm>
            <a:off x="7040880" y="2286000"/>
            <a:ext cx="1645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FFFFFF"/>
                </a:solidFill>
              </a:rPr>
              <a:t>&lt; 2s</a:t>
            </a:r>
            <a:endParaRPr lang="en-US" sz="4800" dirty="0"/>
          </a:p>
          <a:p>
            <a:pPr marL="0" indent="0" algn="ctr">
              <a:buNone/>
            </a:pPr>
            <a:r>
              <a:rPr lang="en-US" sz="1600" dirty="0">
                <a:solidFill>
                  <a:srgbClr val="ECF0F1"/>
                </a:solidFill>
              </a:rPr>
              <a:t>Processing Time</a:t>
            </a:r>
            <a:endParaRPr lang="en-US" sz="4800" dirty="0"/>
          </a:p>
        </p:txBody>
      </p:sp>
      <p:sp>
        <p:nvSpPr>
          <p:cNvPr id="10" name="Text 8"/>
          <p:cNvSpPr/>
          <p:nvPr/>
        </p:nvSpPr>
        <p:spPr>
          <a:xfrm>
            <a:off x="5212080" y="3291840"/>
            <a:ext cx="1645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FFFFFF"/>
                </a:solidFill>
              </a:rPr>
              <a:t>15+</a:t>
            </a:r>
            <a:endParaRPr lang="en-US" sz="4800" dirty="0"/>
          </a:p>
          <a:p>
            <a:pPr marL="0" indent="0" algn="ctr">
              <a:buNone/>
            </a:pPr>
            <a:r>
              <a:rPr lang="en-US" sz="1600" dirty="0">
                <a:solidFill>
                  <a:srgbClr val="ECF0F1"/>
                </a:solidFill>
              </a:rPr>
              <a:t>Data Points Extracted</a:t>
            </a:r>
            <a:endParaRPr lang="en-US" sz="4800" dirty="0"/>
          </a:p>
        </p:txBody>
      </p:sp>
      <p:sp>
        <p:nvSpPr>
          <p:cNvPr id="11" name="Text 9"/>
          <p:cNvSpPr/>
          <p:nvPr/>
        </p:nvSpPr>
        <p:spPr>
          <a:xfrm>
            <a:off x="7040880" y="3291840"/>
            <a:ext cx="1645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FFFFFF"/>
                </a:solidFill>
              </a:rPr>
              <a:t>100%</a:t>
            </a:r>
            <a:endParaRPr lang="en-US" sz="4800" dirty="0"/>
          </a:p>
          <a:p>
            <a:pPr marL="0" indent="0" algn="ctr">
              <a:buNone/>
            </a:pPr>
            <a:r>
              <a:rPr lang="en-US" sz="1600" dirty="0">
                <a:solidFill>
                  <a:srgbClr val="ECF0F1"/>
                </a:solidFill>
              </a:rPr>
              <a:t>Bilingual Support</a:t>
            </a:r>
            <a:endParaRPr lang="en-US" sz="4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7913077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8E44A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Quantum Algorithm #1: QAOA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7315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i="1" dirty="0">
                <a:solidFill>
                  <a:srgbClr val="2C3E50"/>
                </a:solidFill>
              </a:rPr>
              <a:t>Quantum Approximate Optimization Algorithm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640080" y="1463040"/>
            <a:ext cx="3931920" cy="3017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8E44AD"/>
                </a:solidFill>
              </a:rPr>
              <a:t>What is QAOA?</a:t>
            </a:r>
            <a:endParaRPr lang="en-US" sz="2200" dirty="0"/>
          </a:p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</a:rPr>
              <a:t> </a:t>
            </a:r>
            <a:endParaRPr lang="en-US" sz="2200" dirty="0"/>
          </a:p>
          <a:p>
            <a:pPr marL="0" indent="0">
              <a:buNone/>
            </a:pPr>
            <a:r>
              <a:rPr lang="en-US" sz="1400" dirty="0">
                <a:solidFill>
                  <a:srgbClr val="2C3E50"/>
                </a:solidFill>
              </a:rPr>
              <a:t>QAOA is a hybrid quantum-classical algorithm designed to solve combinatorial optimization problems.</a:t>
            </a:r>
            <a:endParaRPr lang="en-US" sz="2200" dirty="0"/>
          </a:p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</a:rPr>
              <a:t> </a:t>
            </a:r>
            <a:endParaRPr lang="en-US" sz="2200" dirty="0"/>
          </a:p>
          <a:p>
            <a:pPr marL="0" indent="0">
              <a:buNone/>
            </a:pPr>
            <a:r>
              <a:rPr lang="en-US" sz="1800" b="1" dirty="0">
                <a:solidFill>
                  <a:srgbClr val="2C3E50"/>
                </a:solidFill>
              </a:rPr>
              <a:t>Problem it Solves:</a:t>
            </a:r>
            <a:endParaRPr lang="en-US" sz="2200" dirty="0"/>
          </a:p>
          <a:p>
            <a:pPr marL="0" indent="0">
              <a:buNone/>
            </a:pPr>
            <a:r>
              <a:rPr lang="en-US" sz="1400" dirty="0">
                <a:solidFill>
                  <a:srgbClr val="2C3E50"/>
                </a:solidFill>
              </a:rPr>
              <a:t>Finding the optimal match between candidates and jobs from thousands of possibilities.</a:t>
            </a:r>
            <a:endParaRPr lang="en-US" sz="2200" dirty="0"/>
          </a:p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</a:rPr>
              <a:t> </a:t>
            </a:r>
            <a:endParaRPr lang="en-US" sz="2200" dirty="0"/>
          </a:p>
          <a:p>
            <a:pPr marL="0" indent="0">
              <a:buNone/>
            </a:pPr>
            <a:r>
              <a:rPr lang="en-US" sz="1800" b="1" dirty="0">
                <a:solidFill>
                  <a:srgbClr val="2C3E50"/>
                </a:solidFill>
              </a:rPr>
              <a:t>How it Works:</a:t>
            </a:r>
            <a:endParaRPr lang="en-US" sz="2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C3E50"/>
                </a:solidFill>
              </a:rPr>
              <a:t>1. Encodes match problem as quantum circuit</a:t>
            </a:r>
            <a:endParaRPr lang="en-US" sz="2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C3E50"/>
                </a:solidFill>
              </a:rPr>
              <a:t>2. Applies quantum operators to explore solutions</a:t>
            </a:r>
            <a:endParaRPr lang="en-US" sz="2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C3E50"/>
                </a:solidFill>
              </a:rPr>
              <a:t>3. Measures optimal configuration</a:t>
            </a:r>
            <a:endParaRPr lang="en-US" sz="2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C3E50"/>
                </a:solidFill>
              </a:rPr>
              <a:t>4. Returns best matches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846320" y="1463040"/>
            <a:ext cx="3840480" cy="3017520"/>
          </a:xfrm>
          <a:prstGeom prst="rect">
            <a:avLst/>
          </a:prstGeom>
          <a:solidFill>
            <a:srgbClr val="ECF0F1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0" y="164592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8E44AD"/>
                </a:solidFill>
              </a:rPr>
              <a:t>Key Benefits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5120640" y="2103120"/>
            <a:ext cx="329184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C3E50"/>
                </a:solidFill>
              </a:rPr>
              <a:t>Speed</a:t>
            </a:r>
            <a:endParaRPr lang="en-US" sz="1600" dirty="0"/>
          </a:p>
          <a:p>
            <a:pPr marL="0" indent="0">
              <a:buNone/>
            </a:pPr>
            <a:r>
              <a:rPr lang="en-US" sz="1200" dirty="0">
                <a:solidFill>
                  <a:srgbClr val="2C3E50"/>
                </a:solidFill>
              </a:rPr>
              <a:t>Evaluates thousands of combinations in parallel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000000"/>
                </a:solidFill>
              </a:rPr>
              <a:t> </a:t>
            </a:r>
            <a:endParaRPr lang="en-US" sz="1600" dirty="0"/>
          </a:p>
          <a:p>
            <a:pPr marL="0" indent="0">
              <a:buNone/>
            </a:pPr>
            <a:r>
              <a:rPr lang="en-US" sz="1600" b="1" dirty="0">
                <a:solidFill>
                  <a:srgbClr val="2C3E50"/>
                </a:solidFill>
              </a:rPr>
              <a:t>Accuracy</a:t>
            </a:r>
            <a:endParaRPr lang="en-US" sz="1600" dirty="0"/>
          </a:p>
          <a:p>
            <a:pPr marL="0" indent="0">
              <a:buNone/>
            </a:pPr>
            <a:r>
              <a:rPr lang="en-US" sz="1200" dirty="0">
                <a:solidFill>
                  <a:srgbClr val="2C3E50"/>
                </a:solidFill>
              </a:rPr>
              <a:t>Finds near-optimal solutions with 95%+ accuracy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000000"/>
                </a:solidFill>
              </a:rPr>
              <a:t> </a:t>
            </a:r>
            <a:endParaRPr lang="en-US" sz="1600" dirty="0"/>
          </a:p>
          <a:p>
            <a:pPr marL="0" indent="0">
              <a:buNone/>
            </a:pPr>
            <a:r>
              <a:rPr lang="en-US" sz="1600" b="1" dirty="0">
                <a:solidFill>
                  <a:srgbClr val="2C3E50"/>
                </a:solidFill>
              </a:rPr>
              <a:t>Scalability</a:t>
            </a:r>
            <a:endParaRPr lang="en-US" sz="1600" dirty="0"/>
          </a:p>
          <a:p>
            <a:pPr marL="0" indent="0">
              <a:buNone/>
            </a:pPr>
            <a:r>
              <a:rPr lang="en-US" sz="1200" dirty="0">
                <a:solidFill>
                  <a:srgbClr val="2C3E50"/>
                </a:solidFill>
              </a:rPr>
              <a:t>Handles 10,000+ candidates × 1,000+ jobs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000000"/>
                </a:solidFill>
              </a:rPr>
              <a:t> </a:t>
            </a:r>
            <a:endParaRPr lang="en-US" sz="1600" dirty="0"/>
          </a:p>
          <a:p>
            <a:pPr marL="0" indent="0">
              <a:buNone/>
            </a:pPr>
            <a:r>
              <a:rPr lang="en-US" sz="1600" b="1" dirty="0">
                <a:solidFill>
                  <a:srgbClr val="2C3E50"/>
                </a:solidFill>
              </a:rPr>
              <a:t>Complexity Reduction</a:t>
            </a:r>
            <a:endParaRPr lang="en-US" sz="1600" dirty="0"/>
          </a:p>
          <a:p>
            <a:pPr marL="0" indent="0">
              <a:buNone/>
            </a:pPr>
            <a:r>
              <a:rPr lang="en-US" sz="1200" dirty="0">
                <a:solidFill>
                  <a:srgbClr val="2C3E50"/>
                </a:solidFill>
              </a:rPr>
              <a:t>Classical: O(2^n) → Quantum: O(√2^n)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8E44A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Quantum Algorithm #2: Grover's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7543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i="1" dirty="0">
                <a:solidFill>
                  <a:srgbClr val="2C3E50"/>
                </a:solidFill>
              </a:rPr>
              <a:t>Quantum Search Algorithm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1533378"/>
            <a:ext cx="3931920" cy="3017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8E44AD"/>
                </a:solidFill>
              </a:rPr>
              <a:t>What is Grover's Algorithm?</a:t>
            </a:r>
            <a:endParaRPr lang="en-US" sz="2200" dirty="0"/>
          </a:p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</a:rPr>
              <a:t> </a:t>
            </a:r>
            <a:endParaRPr lang="en-US" sz="2200" dirty="0"/>
          </a:p>
          <a:p>
            <a:pPr marL="0" indent="0">
              <a:buNone/>
            </a:pPr>
            <a:r>
              <a:rPr lang="en-US" sz="1400" dirty="0">
                <a:solidFill>
                  <a:srgbClr val="2C3E50"/>
                </a:solidFill>
              </a:rPr>
              <a:t>A quantum algorithm that searches unsorted databases quadratically faster than any classical algorithm.</a:t>
            </a:r>
            <a:endParaRPr lang="en-US" sz="2200" dirty="0"/>
          </a:p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</a:rPr>
              <a:t> </a:t>
            </a:r>
            <a:endParaRPr lang="en-US" sz="2200" dirty="0"/>
          </a:p>
          <a:p>
            <a:pPr marL="0" indent="0">
              <a:buNone/>
            </a:pPr>
            <a:r>
              <a:rPr lang="en-US" sz="1800" b="1" dirty="0">
                <a:solidFill>
                  <a:srgbClr val="2C3E50"/>
                </a:solidFill>
              </a:rPr>
              <a:t>Problem it Solves:</a:t>
            </a:r>
            <a:endParaRPr lang="en-US" sz="2200" dirty="0"/>
          </a:p>
          <a:p>
            <a:pPr marL="0" indent="0">
              <a:buNone/>
            </a:pPr>
            <a:r>
              <a:rPr lang="en-US" sz="1400" dirty="0">
                <a:solidFill>
                  <a:srgbClr val="2C3E50"/>
                </a:solidFill>
              </a:rPr>
              <a:t>Rapidly searching through large databases of candidates to find those matching specific criteria.</a:t>
            </a:r>
            <a:endParaRPr lang="en-US" sz="2200" dirty="0"/>
          </a:p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</a:rPr>
              <a:t> </a:t>
            </a:r>
            <a:endParaRPr lang="en-US" sz="2200" dirty="0"/>
          </a:p>
          <a:p>
            <a:pPr marL="0" indent="0">
              <a:buNone/>
            </a:pPr>
            <a:r>
              <a:rPr lang="en-US" sz="1800" b="1" dirty="0">
                <a:solidFill>
                  <a:srgbClr val="2C3E50"/>
                </a:solidFill>
              </a:rPr>
              <a:t>How it Works:</a:t>
            </a:r>
            <a:endParaRPr lang="en-US" sz="2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C3E50"/>
                </a:solidFill>
              </a:rPr>
              <a:t>1. Prepares superposition of all candidates</a:t>
            </a:r>
            <a:endParaRPr lang="en-US" sz="2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C3E50"/>
                </a:solidFill>
              </a:rPr>
              <a:t>2. Applies amplitude amplification</a:t>
            </a:r>
            <a:endParaRPr lang="en-US" sz="2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C3E50"/>
                </a:solidFill>
              </a:rPr>
              <a:t>3. Iteratively boosts matching candidates</a:t>
            </a:r>
            <a:endParaRPr lang="en-US" sz="2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C3E50"/>
                </a:solidFill>
              </a:rPr>
              <a:t>4. Measures to get results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846320" y="1463040"/>
            <a:ext cx="3840480" cy="3017520"/>
          </a:xfrm>
          <a:prstGeom prst="rect">
            <a:avLst/>
          </a:prstGeom>
          <a:solidFill>
            <a:srgbClr val="ECF0F1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0" y="164592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8E44AD"/>
                </a:solidFill>
              </a:rPr>
              <a:t>Performance vs Classical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5120640" y="2103120"/>
            <a:ext cx="329184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C3E50"/>
                </a:solidFill>
              </a:rPr>
              <a:t>Search Speed</a:t>
            </a:r>
            <a:endParaRPr lang="en-US" sz="1600" dirty="0"/>
          </a:p>
          <a:p>
            <a:pPr marL="0" indent="0">
              <a:buNone/>
            </a:pPr>
            <a:r>
              <a:rPr lang="en-US" sz="1200" dirty="0">
                <a:solidFill>
                  <a:srgbClr val="E74C3C"/>
                </a:solidFill>
              </a:rPr>
              <a:t>Classical: O(N) operations</a:t>
            </a:r>
            <a:endParaRPr lang="en-US" sz="1600" dirty="0"/>
          </a:p>
          <a:p>
            <a:pPr marL="0" indent="0">
              <a:buNone/>
            </a:pPr>
            <a:r>
              <a:rPr lang="en-US" sz="1200" dirty="0">
                <a:solidFill>
                  <a:srgbClr val="8E44AD"/>
                </a:solidFill>
              </a:rPr>
              <a:t>Quantum: O(√N) operations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000000"/>
                </a:solidFill>
              </a:rPr>
              <a:t> </a:t>
            </a:r>
            <a:endParaRPr lang="en-US" sz="1600" dirty="0"/>
          </a:p>
          <a:p>
            <a:pPr marL="0" indent="0">
              <a:buNone/>
            </a:pPr>
            <a:r>
              <a:rPr lang="en-US" sz="1400" b="1" dirty="0">
                <a:solidFill>
                  <a:srgbClr val="2C3E50"/>
                </a:solidFill>
              </a:rPr>
              <a:t>Example: 1,000,000 candidates</a:t>
            </a:r>
            <a:endParaRPr lang="en-US" sz="1600" dirty="0"/>
          </a:p>
          <a:p>
            <a:pPr marL="0" indent="0">
              <a:buNone/>
            </a:pPr>
            <a:r>
              <a:rPr lang="en-US" sz="1200" dirty="0">
                <a:solidFill>
                  <a:srgbClr val="E74C3C"/>
                </a:solidFill>
              </a:rPr>
              <a:t>Classical: ~1,000,000 checks</a:t>
            </a:r>
            <a:endParaRPr lang="en-US" sz="1600" dirty="0"/>
          </a:p>
          <a:p>
            <a:pPr marL="0" indent="0">
              <a:buNone/>
            </a:pPr>
            <a:r>
              <a:rPr lang="en-US" sz="1200" dirty="0">
                <a:solidFill>
                  <a:srgbClr val="8E44AD"/>
                </a:solidFill>
              </a:rPr>
              <a:t>Quantum: ~1,000 checks</a:t>
            </a:r>
            <a:endParaRPr lang="en-US" sz="1600" dirty="0"/>
          </a:p>
          <a:p>
            <a:pPr marL="0" indent="0">
              <a:buNone/>
            </a:pPr>
            <a:r>
              <a:rPr lang="en-US" sz="1600" b="1" dirty="0">
                <a:solidFill>
                  <a:srgbClr val="8E44AD"/>
                </a:solidFill>
              </a:rPr>
              <a:t>1000× FASTER!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000000"/>
                </a:solidFill>
              </a:rPr>
              <a:t> </a:t>
            </a:r>
            <a:endParaRPr lang="en-US" sz="1600" dirty="0"/>
          </a:p>
          <a:p>
            <a:pPr marL="0" indent="0">
              <a:buNone/>
            </a:pPr>
            <a:r>
              <a:rPr lang="en-US" sz="1600" b="1" dirty="0">
                <a:solidFill>
                  <a:srgbClr val="2C3E50"/>
                </a:solidFill>
              </a:rPr>
              <a:t>Real-world Impact</a:t>
            </a:r>
            <a:endParaRPr lang="en-US" sz="1600" dirty="0"/>
          </a:p>
          <a:p>
            <a:pPr marL="0" indent="0">
              <a:buNone/>
            </a:pPr>
            <a:r>
              <a:rPr lang="en-US" sz="1200" dirty="0">
                <a:solidFill>
                  <a:srgbClr val="2C3E50"/>
                </a:solidFill>
              </a:rPr>
              <a:t>Search time: 45 min → 2.7 seconds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8E44A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Quantum Algorithm #3: QAE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i="1" dirty="0">
                <a:solidFill>
                  <a:srgbClr val="2C3E50"/>
                </a:solidFill>
              </a:rPr>
              <a:t>Quantum Amplitude Estimation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511126" y="1649437"/>
            <a:ext cx="3931920" cy="3017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8E44AD"/>
                </a:solidFill>
              </a:rPr>
              <a:t>What is QAE?</a:t>
            </a:r>
            <a:endParaRPr lang="en-US" sz="2200" dirty="0"/>
          </a:p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</a:rPr>
              <a:t> </a:t>
            </a:r>
            <a:endParaRPr lang="en-US" sz="2200" dirty="0"/>
          </a:p>
          <a:p>
            <a:pPr marL="0" indent="0">
              <a:buNone/>
            </a:pPr>
            <a:r>
              <a:rPr lang="en-US" sz="1400" dirty="0">
                <a:solidFill>
                  <a:srgbClr val="2C3E50"/>
                </a:solidFill>
              </a:rPr>
              <a:t>Quantum algorithm that estimates the probability amplitude of a quantum state with quadratic speedup.</a:t>
            </a:r>
            <a:endParaRPr lang="en-US" sz="2200" dirty="0"/>
          </a:p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</a:rPr>
              <a:t> </a:t>
            </a:r>
            <a:endParaRPr lang="en-US" sz="2200" dirty="0"/>
          </a:p>
          <a:p>
            <a:pPr marL="0" indent="0">
              <a:buNone/>
            </a:pPr>
            <a:r>
              <a:rPr lang="en-US" sz="1800" b="1" dirty="0">
                <a:solidFill>
                  <a:srgbClr val="2C3E50"/>
                </a:solidFill>
              </a:rPr>
              <a:t>Problem it Solves:</a:t>
            </a:r>
            <a:endParaRPr lang="en-US" sz="2200" dirty="0"/>
          </a:p>
          <a:p>
            <a:pPr marL="0" indent="0">
              <a:buNone/>
            </a:pPr>
            <a:r>
              <a:rPr lang="en-US" sz="1400" dirty="0">
                <a:solidFill>
                  <a:srgbClr val="2C3E50"/>
                </a:solidFill>
              </a:rPr>
              <a:t>Calculating precise match scores and success probabilities between candidates and opportunities.</a:t>
            </a:r>
            <a:endParaRPr lang="en-US" sz="2200" dirty="0"/>
          </a:p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</a:rPr>
              <a:t> </a:t>
            </a:r>
            <a:endParaRPr lang="en-US" sz="2200" dirty="0"/>
          </a:p>
          <a:p>
            <a:pPr marL="0" indent="0">
              <a:buNone/>
            </a:pPr>
            <a:r>
              <a:rPr lang="en-US" sz="1800" b="1" dirty="0">
                <a:solidFill>
                  <a:srgbClr val="2C3E50"/>
                </a:solidFill>
              </a:rPr>
              <a:t>How it Works:</a:t>
            </a:r>
            <a:endParaRPr lang="en-US" sz="2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C3E50"/>
                </a:solidFill>
              </a:rPr>
              <a:t>1. Encodes match criteria as quantum state</a:t>
            </a:r>
            <a:endParaRPr lang="en-US" sz="2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C3E50"/>
                </a:solidFill>
              </a:rPr>
              <a:t>2. Applies phase estimation</a:t>
            </a:r>
            <a:endParaRPr lang="en-US" sz="2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C3E50"/>
                </a:solidFill>
              </a:rPr>
              <a:t>3. Measures amplitude to get probability</a:t>
            </a:r>
            <a:endParaRPr lang="en-US" sz="2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C3E50"/>
                </a:solidFill>
              </a:rPr>
              <a:t>4. Returns match score (0-100%)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846320" y="1463040"/>
            <a:ext cx="3840480" cy="3017520"/>
          </a:xfrm>
          <a:prstGeom prst="rect">
            <a:avLst/>
          </a:prstGeom>
          <a:solidFill>
            <a:srgbClr val="ECF0F1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0" y="164592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8E44AD"/>
                </a:solidFill>
              </a:rPr>
              <a:t>Practical Applications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5120640" y="2103120"/>
            <a:ext cx="329184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C3E50"/>
                </a:solidFill>
              </a:rPr>
              <a:t>Match Score Calculation</a:t>
            </a:r>
            <a:endParaRPr lang="en-US" sz="1600" dirty="0"/>
          </a:p>
          <a:p>
            <a:pPr marL="0" indent="0">
              <a:buNone/>
            </a:pPr>
            <a:r>
              <a:rPr lang="en-US" sz="1200" dirty="0">
                <a:solidFill>
                  <a:srgbClr val="2C3E50"/>
                </a:solidFill>
              </a:rPr>
              <a:t>Computes precise compatibility (87% accuracy)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000000"/>
                </a:solidFill>
              </a:rPr>
              <a:t> </a:t>
            </a:r>
            <a:endParaRPr lang="en-US" sz="1600" dirty="0"/>
          </a:p>
          <a:p>
            <a:pPr marL="0" indent="0">
              <a:buNone/>
            </a:pPr>
            <a:r>
              <a:rPr lang="en-US" sz="1600" b="1" dirty="0">
                <a:solidFill>
                  <a:srgbClr val="2C3E50"/>
                </a:solidFill>
              </a:rPr>
              <a:t>Success Prediction</a:t>
            </a:r>
            <a:endParaRPr lang="en-US" sz="1600" dirty="0"/>
          </a:p>
          <a:p>
            <a:pPr marL="0" indent="0">
              <a:buNone/>
            </a:pPr>
            <a:r>
              <a:rPr lang="en-US" sz="1200" dirty="0">
                <a:solidFill>
                  <a:srgbClr val="2C3E50"/>
                </a:solidFill>
              </a:rPr>
              <a:t>Estimates hiring probability before application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000000"/>
                </a:solidFill>
              </a:rPr>
              <a:t> </a:t>
            </a:r>
            <a:endParaRPr lang="en-US" sz="1600" dirty="0"/>
          </a:p>
          <a:p>
            <a:pPr marL="0" indent="0">
              <a:buNone/>
            </a:pPr>
            <a:r>
              <a:rPr lang="en-US" sz="1600" b="1" dirty="0">
                <a:solidFill>
                  <a:srgbClr val="2C3E50"/>
                </a:solidFill>
              </a:rPr>
              <a:t>Skill Gap Analysis</a:t>
            </a:r>
            <a:endParaRPr lang="en-US" sz="1600" dirty="0"/>
          </a:p>
          <a:p>
            <a:pPr marL="0" indent="0">
              <a:buNone/>
            </a:pPr>
            <a:r>
              <a:rPr lang="en-US" sz="1200" dirty="0">
                <a:solidFill>
                  <a:srgbClr val="2C3E50"/>
                </a:solidFill>
              </a:rPr>
              <a:t>Identifies missing skills with weighted importance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000000"/>
                </a:solidFill>
              </a:rPr>
              <a:t> </a:t>
            </a:r>
            <a:endParaRPr lang="en-US" sz="1600" dirty="0"/>
          </a:p>
          <a:p>
            <a:pPr marL="0" indent="0">
              <a:buNone/>
            </a:pPr>
            <a:r>
              <a:rPr lang="en-US" sz="1600" b="1" dirty="0">
                <a:solidFill>
                  <a:srgbClr val="2C3E50"/>
                </a:solidFill>
              </a:rPr>
              <a:t>Precision vs Classical</a:t>
            </a:r>
            <a:endParaRPr lang="en-US" sz="1600" dirty="0"/>
          </a:p>
          <a:p>
            <a:pPr marL="0" indent="0">
              <a:buNone/>
            </a:pPr>
            <a:r>
              <a:rPr lang="en-US" sz="1200" dirty="0">
                <a:solidFill>
                  <a:srgbClr val="E74C3C"/>
                </a:solidFill>
              </a:rPr>
              <a:t>Classical: ±5% error</a:t>
            </a:r>
            <a:endParaRPr lang="en-US" sz="1600" dirty="0"/>
          </a:p>
          <a:p>
            <a:pPr marL="0" indent="0">
              <a:buNone/>
            </a:pPr>
            <a:r>
              <a:rPr lang="en-US" sz="1200" dirty="0">
                <a:solidFill>
                  <a:srgbClr val="8E44AD"/>
                </a:solidFill>
              </a:rPr>
              <a:t>Quantum: ±0.5% error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563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Complete System Workflow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2C3E50"/>
                </a:solidFill>
              </a:rPr>
              <a:t>From Post to Perfect Match in Under 3 Seconds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914400" y="1554480"/>
            <a:ext cx="457200" cy="457200"/>
          </a:xfrm>
          <a:prstGeom prst="ellipse">
            <a:avLst/>
          </a:prstGeom>
          <a:solidFill>
            <a:srgbClr val="E74C3C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15544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</a:rPr>
              <a:t>1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554480" y="160020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C3E50"/>
                </a:solidFill>
              </a:rPr>
              <a:t>Data Collection</a:t>
            </a:r>
            <a:endParaRPr lang="en-US" sz="1600" dirty="0"/>
          </a:p>
          <a:p>
            <a:pPr marL="0" indent="0">
              <a:buNone/>
            </a:pPr>
            <a:r>
              <a:rPr lang="en-US" sz="1200" dirty="0">
                <a:solidFill>
                  <a:srgbClr val="2C3E50"/>
                </a:solidFill>
              </a:rPr>
              <a:t>Scrape from LinkedIn, Facebook, Telegram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914400" y="2286000"/>
            <a:ext cx="457200" cy="457200"/>
          </a:xfrm>
          <a:prstGeom prst="ellipse">
            <a:avLst/>
          </a:prstGeom>
          <a:solidFill>
            <a:srgbClr val="3498DB"/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22860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</a:rPr>
              <a:t>2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1554480" y="2331720"/>
            <a:ext cx="3200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C3E50"/>
                </a:solidFill>
              </a:rPr>
              <a:t>AI Analysis</a:t>
            </a:r>
            <a:endParaRPr lang="en-US" sz="1600" dirty="0"/>
          </a:p>
          <a:p>
            <a:pPr marL="0" indent="0">
              <a:buNone/>
            </a:pPr>
            <a:r>
              <a:rPr lang="en-US" sz="1200" dirty="0">
                <a:solidFill>
                  <a:srgbClr val="2C3E50"/>
                </a:solidFill>
              </a:rPr>
              <a:t>Claude extracts: company, skills, location, salary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914400" y="3017520"/>
            <a:ext cx="457200" cy="457200"/>
          </a:xfrm>
          <a:prstGeom prst="ellipse">
            <a:avLst/>
          </a:prstGeom>
          <a:solidFill>
            <a:srgbClr val="1E5631"/>
          </a:solidFill>
          <a:ln/>
        </p:spPr>
      </p:sp>
      <p:sp>
        <p:nvSpPr>
          <p:cNvPr id="11" name="Text 9"/>
          <p:cNvSpPr/>
          <p:nvPr/>
        </p:nvSpPr>
        <p:spPr>
          <a:xfrm>
            <a:off x="914400" y="30175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</a:rPr>
              <a:t>3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1554480" y="306324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C3E50"/>
                </a:solidFill>
              </a:rPr>
              <a:t>Verification</a:t>
            </a:r>
            <a:endParaRPr lang="en-US" sz="1600" dirty="0"/>
          </a:p>
          <a:p>
            <a:pPr marL="0" indent="0">
              <a:buNone/>
            </a:pPr>
            <a:r>
              <a:rPr lang="en-US" sz="1200" dirty="0">
                <a:solidFill>
                  <a:srgbClr val="2C3E50"/>
                </a:solidFill>
              </a:rPr>
              <a:t>Check company exists, validate documents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914400" y="3749040"/>
            <a:ext cx="457200" cy="457200"/>
          </a:xfrm>
          <a:prstGeom prst="ellipse">
            <a:avLst/>
          </a:prstGeom>
          <a:solidFill>
            <a:srgbClr val="8E44AD"/>
          </a:solidFill>
          <a:ln/>
        </p:spPr>
      </p:sp>
      <p:sp>
        <p:nvSpPr>
          <p:cNvPr id="14" name="Text 12"/>
          <p:cNvSpPr/>
          <p:nvPr/>
        </p:nvSpPr>
        <p:spPr>
          <a:xfrm>
            <a:off x="914400" y="37490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</a:rPr>
              <a:t>4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1554480" y="3794760"/>
            <a:ext cx="3200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C3E50"/>
                </a:solidFill>
              </a:rPr>
              <a:t>Quantum Matching</a:t>
            </a:r>
            <a:endParaRPr lang="en-US" sz="1600" dirty="0"/>
          </a:p>
          <a:p>
            <a:pPr marL="0" indent="0">
              <a:buNone/>
            </a:pPr>
            <a:r>
              <a:rPr lang="en-US" sz="1200" dirty="0">
                <a:solidFill>
                  <a:srgbClr val="2C3E50"/>
                </a:solidFill>
              </a:rPr>
              <a:t>QAOA+Grover+QAE find perfect candidates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029200" y="1554480"/>
            <a:ext cx="457200" cy="457200"/>
          </a:xfrm>
          <a:prstGeom prst="ellipse">
            <a:avLst/>
          </a:prstGeom>
          <a:solidFill>
            <a:srgbClr val="E74C3C"/>
          </a:solidFill>
          <a:ln/>
        </p:spPr>
      </p:sp>
      <p:sp>
        <p:nvSpPr>
          <p:cNvPr id="17" name="Text 15"/>
          <p:cNvSpPr/>
          <p:nvPr/>
        </p:nvSpPr>
        <p:spPr>
          <a:xfrm>
            <a:off x="5029200" y="15544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</a:rPr>
              <a:t>5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5669280" y="160020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C3E50"/>
                </a:solidFill>
              </a:rPr>
              <a:t>Instant Notification</a:t>
            </a:r>
            <a:endParaRPr lang="en-US" sz="1600" dirty="0"/>
          </a:p>
          <a:p>
            <a:pPr marL="0" indent="0">
              <a:buNone/>
            </a:pPr>
            <a:r>
              <a:rPr lang="en-US" sz="1200" dirty="0">
                <a:solidFill>
                  <a:srgbClr val="2C3E50"/>
                </a:solidFill>
              </a:rPr>
              <a:t>Users notified with 87% match score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4846320" y="2514600"/>
            <a:ext cx="3657600" cy="2011680"/>
          </a:xfrm>
          <a:prstGeom prst="rect">
            <a:avLst/>
          </a:prstGeom>
          <a:solidFill>
            <a:srgbClr val="1E5631"/>
          </a:solidFill>
          <a:ln/>
        </p:spPr>
      </p:sp>
      <p:sp>
        <p:nvSpPr>
          <p:cNvPr id="20" name="Text 18"/>
          <p:cNvSpPr/>
          <p:nvPr/>
        </p:nvSpPr>
        <p:spPr>
          <a:xfrm>
            <a:off x="4846320" y="25603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</a:rPr>
              <a:t>Results</a:t>
            </a:r>
            <a:endParaRPr lang="en-US" sz="2400" dirty="0"/>
          </a:p>
        </p:txBody>
      </p:sp>
      <p:sp>
        <p:nvSpPr>
          <p:cNvPr id="21" name="Text 19"/>
          <p:cNvSpPr/>
          <p:nvPr/>
        </p:nvSpPr>
        <p:spPr>
          <a:xfrm>
            <a:off x="4937760" y="2824089"/>
            <a:ext cx="3474720" cy="18416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E74C3C"/>
                </a:solidFill>
              </a:rPr>
              <a:t>&lt; 3 seconds</a:t>
            </a:r>
            <a:endParaRPr lang="en-US" sz="1400" dirty="0"/>
          </a:p>
          <a:p>
            <a:pPr marL="0" indent="0">
              <a:buNone/>
            </a:pPr>
            <a:r>
              <a:rPr lang="en-US" sz="1050" dirty="0">
                <a:solidFill>
                  <a:srgbClr val="ECF0F1"/>
                </a:solidFill>
              </a:rPr>
              <a:t>Total processing time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</a:rPr>
              <a:t> </a:t>
            </a:r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solidFill>
                  <a:srgbClr val="E74C3C"/>
                </a:solidFill>
              </a:rPr>
              <a:t>87% match rate</a:t>
            </a:r>
            <a:endParaRPr lang="en-US" sz="1400" dirty="0"/>
          </a:p>
          <a:p>
            <a:pPr marL="0" indent="0">
              <a:buNone/>
            </a:pPr>
            <a:r>
              <a:rPr lang="en-US" sz="1050" dirty="0">
                <a:solidFill>
                  <a:srgbClr val="ECF0F1"/>
                </a:solidFill>
              </a:rPr>
              <a:t>Accuracy of recommendations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</a:rPr>
              <a:t> </a:t>
            </a:r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solidFill>
                  <a:srgbClr val="E74C3C"/>
                </a:solidFill>
              </a:rPr>
              <a:t>0% spam</a:t>
            </a:r>
            <a:endParaRPr lang="en-US" sz="1400" dirty="0"/>
          </a:p>
          <a:p>
            <a:pPr marL="0" indent="0">
              <a:buNone/>
            </a:pPr>
            <a:r>
              <a:rPr lang="en-US" sz="1050" dirty="0">
                <a:solidFill>
                  <a:srgbClr val="ECF0F1"/>
                </a:solidFill>
              </a:rPr>
              <a:t>All verified opportunities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ar-SA" sz="2800" b="1" dirty="0">
                <a:solidFill>
                  <a:srgbClr val="1E563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 </a:t>
            </a:r>
            <a:r>
              <a:rPr lang="en-US" sz="2800" b="1" dirty="0">
                <a:solidFill>
                  <a:srgbClr val="1E563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Expected Impact &amp; Results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1188720"/>
            <a:ext cx="2743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000" b="1" dirty="0">
                <a:solidFill>
                  <a:srgbClr val="E74C3C"/>
                </a:solidFill>
              </a:rPr>
              <a:t>172%</a:t>
            </a:r>
            <a:endParaRPr lang="en-US" sz="6000" dirty="0"/>
          </a:p>
          <a:p>
            <a:pPr marL="0" indent="0" algn="ctr">
              <a:buNone/>
            </a:pPr>
            <a:r>
              <a:rPr lang="en-US" sz="1800" dirty="0">
                <a:solidFill>
                  <a:srgbClr val="2C3E50"/>
                </a:solidFill>
              </a:rPr>
              <a:t>Increase in Success Rate</a:t>
            </a:r>
            <a:endParaRPr lang="en-US" sz="6000" dirty="0"/>
          </a:p>
        </p:txBody>
      </p:sp>
      <p:sp>
        <p:nvSpPr>
          <p:cNvPr id="4" name="Text 2"/>
          <p:cNvSpPr/>
          <p:nvPr/>
        </p:nvSpPr>
        <p:spPr>
          <a:xfrm>
            <a:off x="3474720" y="1188720"/>
            <a:ext cx="2743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000" b="1" dirty="0">
                <a:solidFill>
                  <a:srgbClr val="8E44AD"/>
                </a:solidFill>
              </a:rPr>
              <a:t>89%</a:t>
            </a:r>
            <a:endParaRPr lang="en-US" sz="6000" dirty="0"/>
          </a:p>
          <a:p>
            <a:pPr marL="0" indent="0" algn="ctr">
              <a:buNone/>
            </a:pPr>
            <a:r>
              <a:rPr lang="en-US" sz="1800" dirty="0">
                <a:solidFill>
                  <a:srgbClr val="2C3E50"/>
                </a:solidFill>
              </a:rPr>
              <a:t>Reduction in Search Time</a:t>
            </a:r>
            <a:endParaRPr lang="en-US" sz="6000" dirty="0"/>
          </a:p>
        </p:txBody>
      </p:sp>
      <p:sp>
        <p:nvSpPr>
          <p:cNvPr id="5" name="Text 3"/>
          <p:cNvSpPr/>
          <p:nvPr/>
        </p:nvSpPr>
        <p:spPr>
          <a:xfrm>
            <a:off x="6309360" y="1188720"/>
            <a:ext cx="23774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000" b="1" dirty="0">
                <a:solidFill>
                  <a:srgbClr val="3498DB"/>
                </a:solidFill>
              </a:rPr>
              <a:t>100%</a:t>
            </a:r>
            <a:endParaRPr lang="en-US" sz="6000" dirty="0"/>
          </a:p>
          <a:p>
            <a:pPr marL="0" indent="0" algn="ctr">
              <a:buNone/>
            </a:pPr>
            <a:r>
              <a:rPr lang="en-US" sz="1800" dirty="0">
                <a:solidFill>
                  <a:srgbClr val="2C3E50"/>
                </a:solidFill>
              </a:rPr>
              <a:t>Verified Opportunities</a:t>
            </a:r>
            <a:endParaRPr lang="en-US" sz="6000" dirty="0"/>
          </a:p>
        </p:txBody>
      </p:sp>
      <p:sp>
        <p:nvSpPr>
          <p:cNvPr id="6" name="Shape 4"/>
          <p:cNvSpPr/>
          <p:nvPr/>
        </p:nvSpPr>
        <p:spPr>
          <a:xfrm>
            <a:off x="640080" y="2560320"/>
            <a:ext cx="8046720" cy="548640"/>
          </a:xfrm>
          <a:prstGeom prst="rect">
            <a:avLst/>
          </a:prstGeom>
          <a:solidFill>
            <a:srgbClr val="1E5631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256032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Traditional Platforms vs PalChance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640080" y="3200400"/>
            <a:ext cx="2651760" cy="365760"/>
          </a:xfrm>
          <a:prstGeom prst="rect">
            <a:avLst/>
          </a:prstGeom>
          <a:solidFill>
            <a:srgbClr val="ECF0F1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320040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C3E50"/>
                </a:solidFill>
              </a:rPr>
              <a:t>Metric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3383280" y="3200400"/>
            <a:ext cx="2651760" cy="365760"/>
          </a:xfrm>
          <a:prstGeom prst="rect">
            <a:avLst/>
          </a:prstGeom>
          <a:solidFill>
            <a:srgbClr val="E74C3C"/>
          </a:solidFill>
          <a:ln/>
        </p:spPr>
      </p:sp>
      <p:sp>
        <p:nvSpPr>
          <p:cNvPr id="11" name="Text 9"/>
          <p:cNvSpPr/>
          <p:nvPr/>
        </p:nvSpPr>
        <p:spPr>
          <a:xfrm>
            <a:off x="3383280" y="320040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LinkedIn/Traditional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126480" y="3200400"/>
            <a:ext cx="2560320" cy="365760"/>
          </a:xfrm>
          <a:prstGeom prst="rect">
            <a:avLst/>
          </a:prstGeom>
          <a:solidFill>
            <a:srgbClr val="1E5631"/>
          </a:solidFill>
          <a:ln/>
        </p:spPr>
      </p:sp>
      <p:sp>
        <p:nvSpPr>
          <p:cNvPr id="13" name="Text 11"/>
          <p:cNvSpPr/>
          <p:nvPr/>
        </p:nvSpPr>
        <p:spPr>
          <a:xfrm>
            <a:off x="6126480" y="320040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PalChance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731520" y="365760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C3E50"/>
                </a:solidFill>
              </a:rPr>
              <a:t>Success Rate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474720" y="365760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E74C3C"/>
                </a:solidFill>
              </a:rPr>
              <a:t>25%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217920" y="365760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5631"/>
                </a:solidFill>
              </a:rPr>
              <a:t>68%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731520" y="402336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C3E50"/>
                </a:solidFill>
              </a:rPr>
              <a:t>Search Time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474720" y="402336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E74C3C"/>
                </a:solidFill>
              </a:rPr>
              <a:t>45 minutes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217920" y="402336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5631"/>
                </a:solidFill>
              </a:rPr>
              <a:t>5 minutes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731520" y="438912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C3E50"/>
                </a:solidFill>
              </a:rPr>
              <a:t>Fake Opportunities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3474720" y="438912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E74C3C"/>
                </a:solidFill>
              </a:rPr>
              <a:t>73%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217920" y="438912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5631"/>
                </a:solidFill>
              </a:rPr>
              <a:t>0%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E563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PalChance</a:t>
            </a:r>
            <a:endParaRPr lang="en-US" sz="6000" dirty="0"/>
          </a:p>
        </p:txBody>
      </p:sp>
      <p:sp>
        <p:nvSpPr>
          <p:cNvPr id="3" name="Text 1"/>
          <p:cNvSpPr/>
          <p:nvPr/>
        </p:nvSpPr>
        <p:spPr>
          <a:xfrm>
            <a:off x="457200" y="2560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ECF0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Empowering Palestinian Talent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31089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i="1" dirty="0">
                <a:solidFill>
                  <a:srgbClr val="E74C3C"/>
                </a:solidFill>
              </a:rPr>
              <a:t>Through AI &amp; Quantum Innovation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57200" y="41148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</a:rPr>
              <a:t>Thank You</a:t>
            </a:r>
            <a:endParaRPr lang="en-US" sz="3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843</Words>
  <Application>Microsoft Office PowerPoint</Application>
  <PresentationFormat>On-screen Show (16:9)</PresentationFormat>
  <Paragraphs>223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Arial Black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PalChance - Smart Employment Platform for Palestine</dc:title>
  <dc:subject>PptxGenJS Presentation</dc:subject>
  <dc:creator>PalChance Team</dc:creator>
  <cp:lastModifiedBy>Mahmoud Nazzal</cp:lastModifiedBy>
  <cp:revision>2</cp:revision>
  <dcterms:created xsi:type="dcterms:W3CDTF">2026-02-08T00:38:45Z</dcterms:created>
  <dcterms:modified xsi:type="dcterms:W3CDTF">2026-02-08T00:45:24Z</dcterms:modified>
</cp:coreProperties>
</file>